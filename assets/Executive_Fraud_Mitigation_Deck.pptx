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13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15.png"/><Relationship Id="rId10" Type="http://schemas.openxmlformats.org/officeDocument/2006/relationships/image" Target="../media/image33.png"/><Relationship Id="rId4" Type="http://schemas.openxmlformats.org/officeDocument/2006/relationships/image" Target="../media/image14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4529137"/>
            <a:ext cx="9048750" cy="800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1410" y="1528762"/>
            <a:ext cx="2949029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65621" y="2005012"/>
            <a:ext cx="6060757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sz="3750" b="1" i="0" u="none">
                <a:solidFill>
                  <a:srgbClr val="F8FAFC"/>
                </a:solidFill>
                <a:latin typeface="Poppins"/>
              </a:rPr>
              <a:t>Executive Fraud Risk &amp;</a:t>
            </a:r>
            <a:r>
              <a:t>
</a:t>
            </a:r>
            <a:r>
              <a:rPr sz="3750" b="1" i="0" u="none">
                <a:solidFill>
                  <a:srgbClr val="F8FAFC"/>
                </a:solidFill>
                <a:latin typeface="Poppins"/>
              </a:rPr>
              <a:t> Loss Mitigation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14687" y="3243262"/>
            <a:ext cx="576262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Lato"/>
              </a:rPr>
              <a:t>End-to-End Analytics &amp; Predictive Insights on $1.13M Fraud Exposure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335" y="1614487"/>
            <a:ext cx="135284" cy="123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3475" y="3919537"/>
            <a:ext cx="219075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76850" y="3919537"/>
            <a:ext cx="1971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8FAFC"/>
                </a:solidFill>
                <a:latin typeface="Lato SemiBold"/>
              </a:rPr>
              <a:t>Project Lead: Akila Jayarathna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8325" y="4700587"/>
            <a:ext cx="8553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E2E8F0"/>
                </a:solidFill>
                <a:latin typeface="Lato"/>
              </a:rPr>
              <a:t>Executive Summary:</a:t>
            </a:r>
            <a:r>
              <a:rPr sz="1200" b="0" i="0" u="none">
                <a:solidFill>
                  <a:srgbClr val="E2E8F0"/>
                </a:solidFill>
                <a:latin typeface="Lato"/>
              </a:rPr>
              <a:t> Comprehensive end-to-end data pipeline analyzing high-volume transaction channels, peak vulnerability windows, and targeted automated controls to curtail financial loss while maintaining optimal checkout speed.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96467"/>
            <a:ext cx="2638425" cy="111249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2696467"/>
            <a:ext cx="2638425" cy="11124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696467"/>
            <a:ext cx="2638425" cy="111249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75" y="2696467"/>
            <a:ext cx="2638425" cy="111249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547687"/>
            <a:ext cx="300037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4313783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1525" y="2934592"/>
            <a:ext cx="2162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Lato SemiBold"/>
              </a:rPr>
              <a:t>TOTAL FRAUD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172717"/>
            <a:ext cx="2162175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1" i="0" u="none">
                <a:solidFill>
                  <a:srgbClr val="F87171"/>
                </a:solidFill>
                <a:latin typeface="Poppins"/>
              </a:rPr>
              <a:t>$1.13M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2934592"/>
            <a:ext cx="2162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Lato SemiBold"/>
              </a:rPr>
              <a:t>TOTAL FRAUD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3172717"/>
            <a:ext cx="2162175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1" i="0" u="none">
                <a:solidFill>
                  <a:srgbClr val="F8FAFC"/>
                </a:solidFill>
                <a:latin typeface="Poppins"/>
              </a:rPr>
              <a:t>2,145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375" y="2934592"/>
            <a:ext cx="2162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Lato SemiBold"/>
              </a:rPr>
              <a:t>OVERALL FRAUD LOSS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9375" y="3172717"/>
            <a:ext cx="2162175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1" i="0" u="none">
                <a:solidFill>
                  <a:srgbClr val="F8FAFC"/>
                </a:solidFill>
                <a:latin typeface="Poppins"/>
              </a:rPr>
              <a:t>2.94%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8300" y="2934592"/>
            <a:ext cx="21621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Lato SemiBold"/>
              </a:rPr>
              <a:t>AVG FRAUD TRANSACTION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8300" y="3172717"/>
            <a:ext cx="2162175" cy="398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35"/>
              </a:lnSpc>
            </a:pPr>
            <a:r>
              <a:rPr sz="2850" b="1" i="0" u="none">
                <a:solidFill>
                  <a:srgbClr val="F8FAFC"/>
                </a:solidFill>
                <a:latin typeface="Poppins"/>
              </a:rPr>
              <a:t>$528.35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04925" y="4237583"/>
            <a:ext cx="10115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8FAFC"/>
                </a:solidFill>
                <a:latin typeface="Lato"/>
              </a:rPr>
              <a:t>Primary Vulnerability Identified: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Online channels drive </a:t>
            </a:r>
            <a:r>
              <a:rPr sz="1200" b="1" i="0" u="none">
                <a:solidFill>
                  <a:srgbClr val="F8FAFC"/>
                </a:solidFill>
                <a:latin typeface="Lato"/>
              </a:rPr>
              <a:t>63.4% ($718.35K)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of overall financial loss exposure compared to In-Person (POS) transactions. High-risk digital checkouts represent the primary channel gap requiring immediate rule intervention.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7737" y="438150"/>
            <a:ext cx="1124426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Baseline Risk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909760"/>
            <a:ext cx="5419725" cy="35814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909762"/>
            <a:ext cx="5419725" cy="1123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186112"/>
            <a:ext cx="5419725" cy="127158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557712"/>
            <a:ext cx="5419725" cy="1114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47687"/>
            <a:ext cx="261937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909761"/>
            <a:ext cx="5400675" cy="3762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90600" y="2090737"/>
            <a:ext cx="5000625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Poppins"/>
              </a:rPr>
              <a:t>Category Exposure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425" y="2395537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Lato"/>
              </a:rPr>
              <a:t>Shopping (Net)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and </a:t>
            </a:r>
            <a:r>
              <a:rPr sz="1200" b="1" i="0" u="none">
                <a:solidFill>
                  <a:srgbClr val="CBD5E1"/>
                </a:solidFill>
                <a:latin typeface="Lato"/>
              </a:rPr>
              <a:t>Online Services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account for over 65% of unauthorized digital transactions, led heavily by card testing scripts.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3367087"/>
            <a:ext cx="5060632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 dirty="0">
                <a:solidFill>
                  <a:srgbClr val="38BDF8"/>
                </a:solidFill>
                <a:latin typeface="Poppins"/>
              </a:rPr>
              <a:t>Peak Time Windows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425" y="3671887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Lato"/>
              </a:rPr>
              <a:t>Fraud activity peaks sharply during late-night and early-morning hours (</a:t>
            </a:r>
            <a:r>
              <a:rPr sz="1200" b="1" i="0" u="none" dirty="0">
                <a:solidFill>
                  <a:srgbClr val="CBD5E1"/>
                </a:solidFill>
                <a:latin typeface="Lato"/>
              </a:rPr>
              <a:t>10:00 PM – 3:00 AM</a:t>
            </a:r>
            <a:r>
              <a:rPr sz="1200" b="0" i="0" u="none" dirty="0">
                <a:solidFill>
                  <a:srgbClr val="CBD5E1"/>
                </a:solidFill>
                <a:latin typeface="Lato"/>
              </a:rPr>
              <a:t>), taking advantage of lower manual review coverage.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4738687"/>
            <a:ext cx="5010626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F87171"/>
                </a:solidFill>
                <a:latin typeface="Poppins"/>
              </a:rPr>
              <a:t>Key Security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5033962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Unrestricted low-friction checkout protocols during off-peak night hours create a key structural gap for automated testing scripts.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425" y="2143125"/>
            <a:ext cx="161925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3419475"/>
            <a:ext cx="10477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425" y="4781550"/>
            <a:ext cx="171450" cy="15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09637" y="438150"/>
            <a:ext cx="1128236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Attack Vectors &amp; Peak Windows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041E100-7CD0-108E-2820-4F536D8CE90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909762"/>
            <a:ext cx="5451157" cy="3762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071937"/>
            <a:ext cx="11125200" cy="1447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433637"/>
            <a:ext cx="5467350" cy="1447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433637"/>
            <a:ext cx="5467350" cy="1447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47687"/>
            <a:ext cx="261937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53550" y="4291012"/>
            <a:ext cx="2028825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100" b="1" i="0" u="none">
                <a:solidFill>
                  <a:srgbClr val="F8FAFC"/>
                </a:solidFill>
                <a:latin typeface="Poppins"/>
              </a:rPr>
              <a:t>$180K – $220K </a:t>
            </a:r>
            <a:r>
              <a:rPr sz="2100" b="0" i="0" u="none">
                <a:solidFill>
                  <a:srgbClr val="34D399"/>
                </a:solidFill>
                <a:latin typeface="Poppins SemiBold"/>
              </a:rPr>
              <a:t>~15%–20% Loss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186112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Automated step-up MFA challenge triggered for high-risk online transactions </a:t>
            </a:r>
            <a:r>
              <a:rPr sz="1200" b="1" i="0" u="none">
                <a:solidFill>
                  <a:srgbClr val="CBD5E1"/>
                </a:solidFill>
                <a:latin typeface="Lato"/>
              </a:rPr>
              <a:t>&gt; $500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initiated during off-peak hours (</a:t>
            </a:r>
            <a:r>
              <a:rPr sz="1200" b="1" i="0" u="none">
                <a:solidFill>
                  <a:srgbClr val="CBD5E1"/>
                </a:solidFill>
                <a:latin typeface="Lato"/>
              </a:rPr>
              <a:t>10:00 PM – 5:00 AM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9375" y="3186112"/>
            <a:ext cx="49911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Automated temporary holds triggered when a card exhibits </a:t>
            </a:r>
            <a:r>
              <a:rPr sz="1200" b="1" i="0" u="none">
                <a:solidFill>
                  <a:srgbClr val="CBD5E1"/>
                </a:solidFill>
                <a:latin typeface="Lato"/>
              </a:rPr>
              <a:t>&gt;3 consecutive high-value online attempts</a:t>
            </a:r>
            <a:r>
              <a:rPr sz="1200" b="0" i="0" u="none">
                <a:solidFill>
                  <a:srgbClr val="CBD5E1"/>
                </a:solidFill>
                <a:latin typeface="Lato"/>
              </a:rPr>
              <a:t> within a 15-minute rolling window.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438650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2671762"/>
            <a:ext cx="352425" cy="400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8250" y="2733675"/>
            <a:ext cx="4230528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8FAFC"/>
                </a:solidFill>
                <a:latin typeface="Poppins SemiBold"/>
              </a:rPr>
              <a:t>Rule 1: Dynamic Multi-Factor Authentication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671762"/>
            <a:ext cx="400050" cy="4000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3725" y="2733675"/>
            <a:ext cx="3420427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F8FAFC"/>
                </a:solidFill>
                <a:latin typeface="Poppins SemiBold"/>
              </a:rPr>
              <a:t>Rule 2: Velocity &amp; Capping Controls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4925" y="4367212"/>
            <a:ext cx="64008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4D399"/>
                </a:solidFill>
                <a:latin typeface="Poppins SemiBold"/>
              </a:rPr>
              <a:t>Projected Annual Financial 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4925" y="4624387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Lato"/>
              </a:rPr>
              <a:t>Targeted friction blocks top 20% high-risk night spikes with minimal impact to legitimate shoppers.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37" y="438150"/>
            <a:ext cx="1128236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Actionable Mitigation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1504950"/>
            <a:ext cx="5419725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19237"/>
            <a:ext cx="5419725" cy="1123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795587"/>
            <a:ext cx="5419725" cy="1123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071937"/>
            <a:ext cx="5419725" cy="1123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547687"/>
            <a:ext cx="300037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5491162"/>
            <a:ext cx="5419725" cy="571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1514475"/>
            <a:ext cx="5400675" cy="4552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" y="1700212"/>
            <a:ext cx="4980622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Poppins"/>
              </a:rPr>
              <a:t>Data Engineering (Python &amp; SQL)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2005012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Automated ingestion of card transaction streams, missing value imputation, and feature engineering for time/channel attributes.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976562"/>
            <a:ext cx="5040630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Poppins"/>
              </a:rPr>
              <a:t>Data Modeling (Power BI DAX)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" y="3281362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Optimized Star Schema design centered around a main Fact table and dedicated DAX measure repository for loss rates and KPI trends.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1550" y="4252912"/>
            <a:ext cx="5020627" cy="2476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Poppins"/>
              </a:rPr>
              <a:t>BI &amp; Interactive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425" y="4557712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Lato"/>
              </a:rPr>
              <a:t>Executive Power BI dashboard enabling real-time drill-downs, state slicing, and hourly trend analysis for risk teams.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" y="5614987"/>
            <a:ext cx="1463724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Lato"/>
              </a:rPr>
              <a:t> Technical Artifacts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6699" y="5614987"/>
            <a:ext cx="3346400" cy="3238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Lato SemiBold"/>
              </a:rPr>
              <a:t>GitHub Repository &amp; Interactive Portfolio Demo Available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" y="1752600"/>
            <a:ext cx="1809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425" y="3028950"/>
            <a:ext cx="1238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425" y="4305300"/>
            <a:ext cx="14287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425" y="5710237"/>
            <a:ext cx="133350" cy="1333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7737" y="438150"/>
            <a:ext cx="11244262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F8FAFC"/>
                </a:solidFill>
                <a:latin typeface="Poppins SemiBold"/>
              </a:rPr>
              <a:t>Technical Architecture &amp; Pipeline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DF7592C-6723-BA08-1130-BF0DDED6C4E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91250" y="1504950"/>
            <a:ext cx="5457825" cy="45815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380</Words>
  <Application>Microsoft Office PowerPoint</Application>
  <PresentationFormat>Widescreen</PresentationFormat>
  <Paragraphs>38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Lato</vt:lpstr>
      <vt:lpstr>Lato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Desh</dc:creator>
  <cp:keywords/>
  <dc:description>generated using python-pptx</dc:description>
  <cp:lastModifiedBy>Akila Jayarathna</cp:lastModifiedBy>
  <cp:revision>3</cp:revision>
  <dcterms:created xsi:type="dcterms:W3CDTF">2013-01-27T09:14:16Z</dcterms:created>
  <dcterms:modified xsi:type="dcterms:W3CDTF">2026-08-29T05:10:47Z</dcterms:modified>
  <cp:category/>
</cp:coreProperties>
</file>